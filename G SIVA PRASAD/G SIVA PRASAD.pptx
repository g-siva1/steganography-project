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146847057" r:id="rId10"/>
    <p:sldId id="2146847060" r:id="rId11"/>
    <p:sldId id="2146847064" r:id="rId12"/>
    <p:sldId id="2146847062" r:id="rId13"/>
    <p:sldId id="2146847061" r:id="rId14"/>
    <p:sldId id="2146847055"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12-02-2025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2/12/2025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2/12/2025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2/12/2025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2/12/2025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2/12/2025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2/12/2025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2/12/2025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2/12/2025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2/12/2025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2/12/2025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2/12/2025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2/12/2025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G-SIVA1/Steganography-Project.gi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Times New Roman" panose="02020603050405020304" pitchFamily="18" charset="0"/>
                <a:cs typeface="Times New Roman" panose="02020603050405020304" pitchFamily="18" charset="0"/>
              </a:rPr>
              <a:t>PROJECT TITLE:</a:t>
            </a:r>
            <a:br>
              <a:rPr lang="en-US" b="1" dirty="0">
                <a:solidFill>
                  <a:schemeClr val="accent1"/>
                </a:solidFill>
                <a:latin typeface="Arial" panose="020B0604020202020204" pitchFamily="34" charset="0"/>
                <a:cs typeface="Arial" panose="020B0604020202020204" pitchFamily="34" charset="0"/>
              </a:rPr>
            </a:br>
            <a:r>
              <a:rPr lang="en-US" sz="2700" b="1" dirty="0">
                <a:solidFill>
                  <a:schemeClr val="accent1"/>
                </a:solidFill>
                <a:latin typeface="Times New Roman" panose="02020603050405020304" pitchFamily="18" charset="0"/>
                <a:cs typeface="Times New Roman" panose="02020603050405020304" pitchFamily="18" charset="0"/>
              </a:rPr>
              <a:t>SECURE DATA HIDING IN IMAGES USING STEGNOGRAPHY</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037114" y="4586365"/>
            <a:ext cx="7697862"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Times New Roman" panose="02020603050405020304" pitchFamily="18" charset="0"/>
                <a:cs typeface="Times New Roman" panose="02020603050405020304" pitchFamily="18" charset="0"/>
              </a:rPr>
              <a:t>Presented By:</a:t>
            </a:r>
          </a:p>
          <a:p>
            <a:r>
              <a:rPr lang="en-US" sz="2000" b="1" dirty="0">
                <a:solidFill>
                  <a:schemeClr val="accent1">
                    <a:lumMod val="75000"/>
                  </a:schemeClr>
                </a:solidFill>
                <a:latin typeface="Times New Roman" panose="02020603050405020304" pitchFamily="18" charset="0"/>
                <a:cs typeface="Times New Roman" panose="02020603050405020304" pitchFamily="18" charset="0"/>
              </a:rPr>
              <a:t>Student Name : G SIVA PRASAD</a:t>
            </a:r>
          </a:p>
          <a:p>
            <a:r>
              <a:rPr lang="en-US" sz="2000" b="1" dirty="0">
                <a:solidFill>
                  <a:schemeClr val="accent1">
                    <a:lumMod val="75000"/>
                  </a:schemeClr>
                </a:solidFill>
                <a:latin typeface="Times New Roman" panose="02020603050405020304" pitchFamily="18" charset="0"/>
                <a:cs typeface="Times New Roman" panose="02020603050405020304" pitchFamily="18" charset="0"/>
              </a:rPr>
              <a:t>College Name &amp; Department : SRM University and Cyber Security</a:t>
            </a:r>
          </a:p>
          <a:p>
            <a:endParaRPr lang="en-US" sz="2000"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0" indent="0">
              <a:buNone/>
            </a:pPr>
            <a:endParaRPr lang="en-US" sz="2000" b="1" dirty="0">
              <a:latin typeface="Arial"/>
              <a:ea typeface="+mn-lt"/>
              <a:cs typeface="+mn-lt"/>
            </a:endParaRP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In the digital age, the need for secure communication and data protection is increasingly crucial. One technique to ensure privacy is </a:t>
            </a:r>
            <a:r>
              <a:rPr lang="en-US" sz="2800" b="1" dirty="0">
                <a:latin typeface="Times New Roman" panose="02020603050405020304" pitchFamily="18" charset="0"/>
                <a:cs typeface="Times New Roman" panose="02020603050405020304" pitchFamily="18" charset="0"/>
              </a:rPr>
              <a:t>Steganography</a:t>
            </a:r>
            <a:r>
              <a:rPr lang="en-US" sz="2800" dirty="0">
                <a:latin typeface="Times New Roman" panose="02020603050405020304" pitchFamily="18" charset="0"/>
                <a:cs typeface="Times New Roman" panose="02020603050405020304" pitchFamily="18" charset="0"/>
              </a:rPr>
              <a:t>, the practice of concealing a message within a medium (such as an image, audio, or video) in a way that is not detectable to the human eye or ear. Unlike encryption, where the message is transformed into unreadable text, steganography hides the message within an existing, seemingly normal file.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4" name="Rectangle 2">
            <a:extLst>
              <a:ext uri="{FF2B5EF4-FFF2-40B4-BE49-F238E27FC236}">
                <a16:creationId xmlns:a16="http://schemas.microsoft.com/office/drawing/2014/main" id="{B80D95B5-D4CD-F037-F1B9-6CDB47F3C883}"/>
              </a:ext>
            </a:extLst>
          </p:cNvPr>
          <p:cNvSpPr>
            <a:spLocks noGrp="1" noChangeArrowheads="1"/>
          </p:cNvSpPr>
          <p:nvPr>
            <p:ph idx="1"/>
          </p:nvPr>
        </p:nvSpPr>
        <p:spPr bwMode="auto">
          <a:xfrm>
            <a:off x="441325" y="2099817"/>
            <a:ext cx="1129347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is implemented in Python for its simplicity and powerful libraries.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(cv2)</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image manipulation, reading, and saving.</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LSB Steganography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secret message is hidden in the least significant bits of the image pixels.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Password Protection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passcode is used to secure the decryption process.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Formats (JPG)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Standard formats like JPG are used to store and manipulate the image. </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Invisible Data Hiding</a:t>
            </a:r>
            <a:r>
              <a:rPr lang="en-US" sz="2400" dirty="0">
                <a:latin typeface="Times New Roman" panose="02020603050405020304" pitchFamily="18" charset="0"/>
                <a:cs typeface="Times New Roman" panose="02020603050405020304" pitchFamily="18" charset="0"/>
              </a:rPr>
              <a:t>: The ability to hide a secret message in an image without any visible distortion is a fascinating use of image processing techniques.</a:t>
            </a:r>
            <a:endParaRPr lang="en-US" sz="2400" b="1" dirty="0">
              <a:solidFill>
                <a:srgbClr val="0F0F0F"/>
              </a:solidFill>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Password Protection</a:t>
            </a:r>
            <a:r>
              <a:rPr lang="en-US" sz="2400" dirty="0">
                <a:latin typeface="Times New Roman" panose="02020603050405020304" pitchFamily="18" charset="0"/>
                <a:cs typeface="Times New Roman" panose="02020603050405020304" pitchFamily="18" charset="0"/>
              </a:rPr>
              <a:t>: Adding a password-based security layer to the steganography process ensures that only authorized users can retrieve the hidden data, offering an extra level of privacy.</a:t>
            </a:r>
            <a:endParaRPr lang="en-US" sz="2400" b="1" dirty="0">
              <a:solidFill>
                <a:srgbClr val="0F0F0F"/>
              </a:solidFill>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Real-Time Image Manipulation</a:t>
            </a:r>
            <a:r>
              <a:rPr lang="en-US" sz="2400" dirty="0">
                <a:latin typeface="Times New Roman" panose="02020603050405020304" pitchFamily="18" charset="0"/>
                <a:cs typeface="Times New Roman" panose="02020603050405020304" pitchFamily="18" charset="0"/>
              </a:rPr>
              <a:t>: The project allows for real-time image editing and saving while embedding the message, making it interactive and visually engaging.</a:t>
            </a:r>
            <a:endParaRPr lang="en-US" sz="2400" b="1" dirty="0">
              <a:solidFill>
                <a:srgbClr val="0F0F0F"/>
              </a:solidFill>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Practical Application</a:t>
            </a:r>
            <a:r>
              <a:rPr lang="en-US" sz="2400" dirty="0">
                <a:latin typeface="Times New Roman" panose="02020603050405020304" pitchFamily="18" charset="0"/>
                <a:cs typeface="Times New Roman" panose="02020603050405020304" pitchFamily="18" charset="0"/>
              </a:rPr>
              <a:t>: It has real-world applications like secure communication, digital watermarking, and copyright protection—showing the usefulness of steganography in everyday digital security.</a:t>
            </a:r>
            <a:endParaRPr lang="en-IN" sz="2400" b="1" dirty="0">
              <a:solidFill>
                <a:srgbClr val="0F0F0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3" name="Content Placeholder 2">
            <a:extLst>
              <a:ext uri="{FF2B5EF4-FFF2-40B4-BE49-F238E27FC236}">
                <a16:creationId xmlns:a16="http://schemas.microsoft.com/office/drawing/2014/main" id="{AB679E23-F86A-AFA9-FE9C-7F5A518E8198}"/>
              </a:ext>
            </a:extLst>
          </p:cNvPr>
          <p:cNvSpPr>
            <a:spLocks noGrp="1"/>
          </p:cNvSpPr>
          <p:nvPr>
            <p:ph idx="1"/>
          </p:nvPr>
        </p:nvSpPr>
        <p:spPr/>
        <p:txBody>
          <a:bodyPr>
            <a:normAutofit lnSpcReduction="10000"/>
          </a:bodyPr>
          <a:lstStyle/>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Individuals (Private Users)</a:t>
            </a:r>
            <a:r>
              <a:rPr lang="en-US" sz="2400" dirty="0">
                <a:latin typeface="Times New Roman" panose="02020603050405020304" pitchFamily="18" charset="0"/>
                <a:cs typeface="Times New Roman" panose="02020603050405020304" pitchFamily="18" charset="0"/>
              </a:rPr>
              <a:t>: People who want to securely share private or confidential messages (e.g., passwords, personal information) through images without revealing the content.</a:t>
            </a:r>
          </a:p>
          <a:p>
            <a:r>
              <a:rPr lang="en-US" sz="2400" b="1" dirty="0">
                <a:latin typeface="Times New Roman" panose="02020603050405020304" pitchFamily="18" charset="0"/>
                <a:cs typeface="Times New Roman" panose="02020603050405020304" pitchFamily="18" charset="0"/>
              </a:rPr>
              <a:t>Digital Artists</a:t>
            </a:r>
            <a:r>
              <a:rPr lang="en-US" sz="2400" dirty="0">
                <a:latin typeface="Times New Roman" panose="02020603050405020304" pitchFamily="18" charset="0"/>
                <a:cs typeface="Times New Roman" panose="02020603050405020304" pitchFamily="18" charset="0"/>
              </a:rPr>
              <a:t>: Artists who may want to embed watermarks or hidden messages (like copyright information) within their digital artwork, ensuring ownership while preserving the image’s appearance.</a:t>
            </a:r>
          </a:p>
          <a:p>
            <a:r>
              <a:rPr lang="en-US" sz="2400" b="1" dirty="0">
                <a:latin typeface="Times New Roman" panose="02020603050405020304" pitchFamily="18" charset="0"/>
                <a:cs typeface="Times New Roman" panose="02020603050405020304" pitchFamily="18" charset="0"/>
              </a:rPr>
              <a:t>Government Agencies</a:t>
            </a:r>
            <a:r>
              <a:rPr lang="en-US" sz="2400" dirty="0">
                <a:latin typeface="Times New Roman" panose="02020603050405020304" pitchFamily="18" charset="0"/>
                <a:cs typeface="Times New Roman" panose="02020603050405020304" pitchFamily="18" charset="0"/>
              </a:rPr>
              <a:t>: Used by government organizations for secure communication or covert transmission of critical data, avoiding interception or surveillance.</a:t>
            </a:r>
          </a:p>
          <a:p>
            <a:endParaRPr lang="en-US" sz="2000" dirty="0"/>
          </a:p>
          <a:p>
            <a:endParaRPr lang="en-US" sz="1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81904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lstStyle/>
          <a:p>
            <a:r>
              <a:rPr lang="en-IN" dirty="0">
                <a:solidFill>
                  <a:schemeClr val="accent1"/>
                </a:solidFill>
              </a:rPr>
              <a:t>Results</a:t>
            </a:r>
          </a:p>
        </p:txBody>
      </p:sp>
      <p:sp>
        <p:nvSpPr>
          <p:cNvPr id="3" name="Content Placeholder 2">
            <a:extLst>
              <a:ext uri="{FF2B5EF4-FFF2-40B4-BE49-F238E27FC236}">
                <a16:creationId xmlns:a16="http://schemas.microsoft.com/office/drawing/2014/main" id="{805D7125-AC62-752D-6E68-9EB88BCC631C}"/>
              </a:ext>
            </a:extLst>
          </p:cNvPr>
          <p:cNvSpPr>
            <a:spLocks noGrp="1"/>
          </p:cNvSpPr>
          <p:nvPr>
            <p:ph idx="1"/>
          </p:nvPr>
        </p:nvSpPr>
        <p:spPr/>
        <p:txBody>
          <a:bodyPr/>
          <a:lstStyle/>
          <a:p>
            <a:r>
              <a:rPr lang="en-IN" dirty="0"/>
              <a:t>Screenshots of the outcome (min 3)</a:t>
            </a:r>
          </a:p>
        </p:txBody>
      </p:sp>
      <p:pic>
        <p:nvPicPr>
          <p:cNvPr id="7" name="Picture 6">
            <a:extLst>
              <a:ext uri="{FF2B5EF4-FFF2-40B4-BE49-F238E27FC236}">
                <a16:creationId xmlns:a16="http://schemas.microsoft.com/office/drawing/2014/main" id="{DBC47DB0-4394-A408-A51C-18581A2CE6CF}"/>
              </a:ext>
            </a:extLst>
          </p:cNvPr>
          <p:cNvPicPr>
            <a:picLocks noChangeAspect="1"/>
          </p:cNvPicPr>
          <p:nvPr/>
        </p:nvPicPr>
        <p:blipFill>
          <a:blip r:embed="rId2"/>
          <a:stretch>
            <a:fillRect/>
          </a:stretch>
        </p:blipFill>
        <p:spPr>
          <a:xfrm>
            <a:off x="0" y="1469570"/>
            <a:ext cx="12192000" cy="5388429"/>
          </a:xfrm>
          <a:prstGeom prst="rect">
            <a:avLst/>
          </a:prstGeom>
        </p:spPr>
      </p:pic>
    </p:spTree>
    <p:extLst>
      <p:ext uri="{BB962C8B-B14F-4D97-AF65-F5344CB8AC3E}">
        <p14:creationId xmlns:p14="http://schemas.microsoft.com/office/powerpoint/2010/main" val="20837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9E1BA-9A2F-FED6-427F-A336BBBE95F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9AE6EA-0CE4-8ABA-4D12-3AA7840C8555}"/>
              </a:ext>
            </a:extLst>
          </p:cNvPr>
          <p:cNvPicPr>
            <a:picLocks noChangeAspect="1"/>
          </p:cNvPicPr>
          <p:nvPr/>
        </p:nvPicPr>
        <p:blipFill>
          <a:blip r:embed="rId2"/>
          <a:stretch>
            <a:fillRect/>
          </a:stretch>
        </p:blipFill>
        <p:spPr>
          <a:xfrm>
            <a:off x="0" y="0"/>
            <a:ext cx="12192000" cy="4376057"/>
          </a:xfrm>
          <a:prstGeom prst="rect">
            <a:avLst/>
          </a:prstGeom>
        </p:spPr>
      </p:pic>
      <p:pic>
        <p:nvPicPr>
          <p:cNvPr id="5" name="Picture 4">
            <a:extLst>
              <a:ext uri="{FF2B5EF4-FFF2-40B4-BE49-F238E27FC236}">
                <a16:creationId xmlns:a16="http://schemas.microsoft.com/office/drawing/2014/main" id="{14AF19DB-C38E-F70A-539E-8F10AF1FD3EA}"/>
              </a:ext>
            </a:extLst>
          </p:cNvPr>
          <p:cNvPicPr>
            <a:picLocks noChangeAspect="1"/>
          </p:cNvPicPr>
          <p:nvPr/>
        </p:nvPicPr>
        <p:blipFill>
          <a:blip r:embed="rId3"/>
          <a:stretch>
            <a:fillRect/>
          </a:stretch>
        </p:blipFill>
        <p:spPr>
          <a:xfrm>
            <a:off x="286649" y="4555612"/>
            <a:ext cx="10697037" cy="838317"/>
          </a:xfrm>
          <a:prstGeom prst="rect">
            <a:avLst/>
          </a:prstGeom>
        </p:spPr>
      </p:pic>
    </p:spTree>
    <p:extLst>
      <p:ext uri="{BB962C8B-B14F-4D97-AF65-F5344CB8AC3E}">
        <p14:creationId xmlns:p14="http://schemas.microsoft.com/office/powerpoint/2010/main" val="1908319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lstStyle/>
          <a:p>
            <a:r>
              <a:rPr lang="en-IN">
                <a:solidFill>
                  <a:schemeClr val="accent1"/>
                </a:solidFill>
              </a:rPr>
              <a:t>Conclusion</a:t>
            </a:r>
            <a:endParaRPr lang="en-IN" dirty="0">
              <a:solidFill>
                <a:schemeClr val="accent1"/>
              </a:solidFill>
            </a:endParaRP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p:txBody>
          <a:bodyPr>
            <a:normAutofit/>
          </a:bodyPr>
          <a:lstStyle/>
          <a:p>
            <a:pPr marL="0" indent="0">
              <a:buNone/>
            </a:pPr>
            <a:r>
              <a:rPr lang="en-US" sz="2400">
                <a:latin typeface="Times New Roman" panose="02020603050405020304" pitchFamily="18" charset="0"/>
                <a:cs typeface="Times New Roman" panose="02020603050405020304" pitchFamily="18" charset="0"/>
              </a:rPr>
              <a:t>The </a:t>
            </a:r>
            <a:r>
              <a:rPr lang="en-US" sz="2400" b="1">
                <a:latin typeface="Times New Roman" panose="02020603050405020304" pitchFamily="18" charset="0"/>
                <a:cs typeface="Times New Roman" panose="02020603050405020304" pitchFamily="18" charset="0"/>
              </a:rPr>
              <a:t>"Secure Data Hiding in Images Using Steganography"</a:t>
            </a:r>
            <a:r>
              <a:rPr lang="en-US" sz="2400">
                <a:latin typeface="Times New Roman" panose="02020603050405020304" pitchFamily="18" charset="0"/>
                <a:cs typeface="Times New Roman" panose="02020603050405020304" pitchFamily="18" charset="0"/>
              </a:rPr>
              <a:t> project effectively demonstrates how data can be hidden within images to ensure confidentiality and privacy. By utilizing </a:t>
            </a:r>
            <a:r>
              <a:rPr lang="en-US" sz="2400" b="1">
                <a:latin typeface="Times New Roman" panose="02020603050405020304" pitchFamily="18" charset="0"/>
                <a:cs typeface="Times New Roman" panose="02020603050405020304" pitchFamily="18" charset="0"/>
              </a:rPr>
              <a:t>Least Significant Bit (LSB) steganography</a:t>
            </a:r>
            <a:r>
              <a:rPr lang="en-US" sz="2400">
                <a:latin typeface="Times New Roman" panose="02020603050405020304" pitchFamily="18" charset="0"/>
                <a:cs typeface="Times New Roman" panose="02020603050405020304" pitchFamily="18" charset="0"/>
              </a:rPr>
              <a:t>, the project embeds secret messages within image pixels, ensuring that the message remains invisible to the human eye while preserving the image’s quality. The addition of </a:t>
            </a:r>
            <a:r>
              <a:rPr lang="en-US" sz="2400" b="1">
                <a:latin typeface="Times New Roman" panose="02020603050405020304" pitchFamily="18" charset="0"/>
                <a:cs typeface="Times New Roman" panose="02020603050405020304" pitchFamily="18" charset="0"/>
              </a:rPr>
              <a:t>password protection</a:t>
            </a:r>
            <a:r>
              <a:rPr lang="en-US" sz="2400">
                <a:latin typeface="Times New Roman" panose="02020603050405020304" pitchFamily="18" charset="0"/>
                <a:cs typeface="Times New Roman" panose="02020603050405020304" pitchFamily="18" charset="0"/>
              </a:rPr>
              <a:t> enhances security, ensuring that only authorized users can decrypt and access the hidden data. This project showcases the powerful combination of image processing and cryptography, offering real-world applications such as secure communication, digital watermarking, and covert data transmission.</a:t>
            </a:r>
            <a:endParaRPr lang="en-IN" sz="240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882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p:txBody>
          <a:bodyPr>
            <a:normAutofit/>
          </a:bodyPr>
          <a:lstStyle/>
          <a:p>
            <a:pPr marL="0" indent="0">
              <a:buNone/>
            </a:pPr>
            <a:r>
              <a:rPr lang="en-IN" sz="3600" dirty="0">
                <a:latin typeface="Times New Roman" panose="02020603050405020304" pitchFamily="18" charset="0"/>
                <a:cs typeface="Times New Roman" panose="02020603050405020304" pitchFamily="18" charset="0"/>
                <a:hlinkClick r:id="rId2"/>
              </a:rPr>
              <a:t>https://github.com/G-SIVA1/Steganography-Project.git</a:t>
            </a:r>
            <a:endParaRPr lang="en-IN" sz="3600" dirty="0">
              <a:latin typeface="Times New Roman" panose="02020603050405020304" pitchFamily="18" charset="0"/>
              <a:cs typeface="Times New Roman" panose="02020603050405020304" pitchFamily="18" charset="0"/>
            </a:endParaRPr>
          </a:p>
          <a:p>
            <a:pPr marL="0" indent="0">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664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normAutofit fontScale="92500" lnSpcReduction="10000"/>
          </a:bodyPr>
          <a:lstStyle/>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Multiple Data Embedding</a:t>
            </a:r>
            <a:r>
              <a:rPr lang="en-US" sz="2400" dirty="0">
                <a:latin typeface="Times New Roman" panose="02020603050405020304" pitchFamily="18" charset="0"/>
                <a:cs typeface="Times New Roman" panose="02020603050405020304" pitchFamily="18" charset="0"/>
              </a:rPr>
              <a:t>: Future versions could allow embedding multiple types of data (e.g., text, images, files) simultaneously into an image, increasing the versatility of the system.</a:t>
            </a:r>
          </a:p>
          <a:p>
            <a:r>
              <a:rPr lang="en-US" sz="2400" b="1" dirty="0">
                <a:latin typeface="Times New Roman" panose="02020603050405020304" pitchFamily="18" charset="0"/>
                <a:cs typeface="Times New Roman" panose="02020603050405020304" pitchFamily="18" charset="0"/>
              </a:rPr>
              <a:t>Advanced Encryption Techniques</a:t>
            </a:r>
            <a:r>
              <a:rPr lang="en-US" sz="2400" dirty="0">
                <a:latin typeface="Times New Roman" panose="02020603050405020304" pitchFamily="18" charset="0"/>
                <a:cs typeface="Times New Roman" panose="02020603050405020304" pitchFamily="18" charset="0"/>
              </a:rPr>
              <a:t>: Integration of advanced encryption algorithms (like AES or RSA) for further securing the hidden data before embedding it, ensuring higher levels of security.</a:t>
            </a:r>
          </a:p>
          <a:p>
            <a:r>
              <a:rPr lang="en-US" sz="2400" b="1" dirty="0">
                <a:latin typeface="Times New Roman" panose="02020603050405020304" pitchFamily="18" charset="0"/>
                <a:cs typeface="Times New Roman" panose="02020603050405020304" pitchFamily="18" charset="0"/>
              </a:rPr>
              <a:t>Detection and Anti-Steganography</a:t>
            </a:r>
            <a:r>
              <a:rPr lang="en-US" sz="2400" dirty="0">
                <a:latin typeface="Times New Roman" panose="02020603050405020304" pitchFamily="18" charset="0"/>
                <a:cs typeface="Times New Roman" panose="02020603050405020304" pitchFamily="18" charset="0"/>
              </a:rPr>
              <a:t>: Implement features to detect hidden data within an image and defend against steganalysis techniques, making the system resistant to detection by unauthorized parties.</a:t>
            </a:r>
          </a:p>
          <a:p>
            <a:endParaRPr lang="en-US" sz="2400" dirty="0">
              <a:latin typeface="Times New Roman" panose="02020603050405020304" pitchFamily="18" charset="0"/>
              <a:cs typeface="Times New Roman" panose="02020603050405020304" pitchFamily="18" charset="0"/>
            </a:endParaRPr>
          </a:p>
          <a:p>
            <a:pPr marL="305435" indent="-305435"/>
            <a:endParaRPr lang="en-US" sz="2400"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Tree>
    <p:extLst>
      <p:ext uri="{BB962C8B-B14F-4D97-AF65-F5344CB8AC3E}">
        <p14:creationId xmlns:p14="http://schemas.microsoft.com/office/powerpoint/2010/main" val="614882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52</TotalTime>
  <Words>648</Words>
  <Application>Microsoft Office PowerPoint</Application>
  <PresentationFormat>Widescreen</PresentationFormat>
  <Paragraphs>49</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Franklin Gothic Book</vt:lpstr>
      <vt:lpstr>Franklin Gothic Demi</vt:lpstr>
      <vt:lpstr>Times New Roman</vt:lpstr>
      <vt:lpstr>Wingdings 2</vt:lpstr>
      <vt:lpstr>DividendVTI</vt:lpstr>
      <vt:lpstr>PROJECT TITLE: SECURE DATA HIDING IN IMAGES USING STEGNOGRAPHY</vt:lpstr>
      <vt:lpstr>OUTLINE</vt:lpstr>
      <vt:lpstr>Problem Statement</vt:lpstr>
      <vt:lpstr>Technology  used</vt:lpstr>
      <vt:lpstr>Wow factors</vt:lpstr>
      <vt:lpstr>End users</vt:lpstr>
      <vt:lpstr>Results</vt:lpstr>
      <vt:lpstr>PowerPoint Presentation</vt:lpstr>
      <vt:lpstr>Conclusion</vt:lpstr>
      <vt:lpstr>GitHub Link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Sivaprasad G</cp:lastModifiedBy>
  <cp:revision>31</cp:revision>
  <dcterms:created xsi:type="dcterms:W3CDTF">2021-05-26T16:50:10Z</dcterms:created>
  <dcterms:modified xsi:type="dcterms:W3CDTF">2025-02-12T14:41:00Z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